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6459200" cy="21945600"/>
  <p:notesSz cx="6858000" cy="9144000"/>
  <p:embeddedFontLst>
    <p:embeddedFont>
      <p:font typeface="Didact Gothic" charset="1" panose="00000500000000000000"/>
      <p:regular r:id="rId7"/>
    </p:embeddedFont>
    <p:embeddedFont>
      <p:font typeface="Cardo" charset="1" panose="0202060000000000000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14" Target="https://docs.google.com/document/d/1Q8aJz6r1ocISWU7CCV9np6jiHMFY6H9aXijgA7FPZ9w/edit?usp=sharing" TargetMode="External" Type="http://schemas.openxmlformats.org/officeDocument/2006/relationships/hyperlink"/><Relationship Id="rId15" Target="https://docs.google.com/document/d/1Q8aJz6r1ocISWU7CCV9np6jiHMFY6H9aXijgA7FPZ9w/edit?usp=sharing" TargetMode="External" Type="http://schemas.openxmlformats.org/officeDocument/2006/relationships/hyperlink"/><Relationship Id="rId16" Target="../media/image13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8849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7080" y="233820"/>
            <a:ext cx="15455670" cy="21457367"/>
            <a:chOff x="0" y="0"/>
            <a:chExt cx="3466026" cy="48119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66026" cy="4811942"/>
            </a:xfrm>
            <a:custGeom>
              <a:avLst/>
              <a:gdLst/>
              <a:ahLst/>
              <a:cxnLst/>
              <a:rect r="r" b="b" t="t" l="l"/>
              <a:pathLst>
                <a:path h="4811942" w="3466026">
                  <a:moveTo>
                    <a:pt x="0" y="0"/>
                  </a:moveTo>
                  <a:lnTo>
                    <a:pt x="3466026" y="0"/>
                  </a:lnTo>
                  <a:lnTo>
                    <a:pt x="3466026" y="4811942"/>
                  </a:lnTo>
                  <a:lnTo>
                    <a:pt x="0" y="4811942"/>
                  </a:lnTo>
                  <a:close/>
                </a:path>
              </a:pathLst>
            </a:custGeom>
            <a:solidFill>
              <a:srgbClr val="EDE9DD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978389" y="8796898"/>
            <a:ext cx="4520834" cy="5064458"/>
            <a:chOff x="0" y="0"/>
            <a:chExt cx="1700612" cy="190510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00612" cy="1905109"/>
            </a:xfrm>
            <a:custGeom>
              <a:avLst/>
              <a:gdLst/>
              <a:ahLst/>
              <a:cxnLst/>
              <a:rect r="r" b="b" t="t" l="l"/>
              <a:pathLst>
                <a:path h="1905109" w="1700612">
                  <a:moveTo>
                    <a:pt x="1576152" y="1905109"/>
                  </a:moveTo>
                  <a:lnTo>
                    <a:pt x="124460" y="1905109"/>
                  </a:lnTo>
                  <a:cubicBezTo>
                    <a:pt x="55880" y="1905109"/>
                    <a:pt x="0" y="1849229"/>
                    <a:pt x="0" y="1780649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576152" y="0"/>
                  </a:lnTo>
                  <a:cubicBezTo>
                    <a:pt x="1644732" y="0"/>
                    <a:pt x="1700612" y="55880"/>
                    <a:pt x="1700612" y="124460"/>
                  </a:cubicBezTo>
                  <a:lnTo>
                    <a:pt x="1700612" y="1780649"/>
                  </a:lnTo>
                  <a:cubicBezTo>
                    <a:pt x="1700612" y="1849229"/>
                    <a:pt x="1644732" y="1905109"/>
                    <a:pt x="1576152" y="1905109"/>
                  </a:cubicBezTo>
                  <a:close/>
                </a:path>
              </a:pathLst>
            </a:custGeom>
            <a:solidFill>
              <a:srgbClr val="E8B594">
                <a:alpha val="49804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823328" y="5384344"/>
            <a:ext cx="4859377" cy="5644789"/>
            <a:chOff x="0" y="0"/>
            <a:chExt cx="1827963" cy="212341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27963" cy="2123413"/>
            </a:xfrm>
            <a:custGeom>
              <a:avLst/>
              <a:gdLst/>
              <a:ahLst/>
              <a:cxnLst/>
              <a:rect r="r" b="b" t="t" l="l"/>
              <a:pathLst>
                <a:path h="2123413" w="1827963">
                  <a:moveTo>
                    <a:pt x="1703503" y="2123413"/>
                  </a:moveTo>
                  <a:lnTo>
                    <a:pt x="124460" y="2123413"/>
                  </a:lnTo>
                  <a:cubicBezTo>
                    <a:pt x="55880" y="2123413"/>
                    <a:pt x="0" y="2067533"/>
                    <a:pt x="0" y="1998953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703503" y="0"/>
                  </a:lnTo>
                  <a:cubicBezTo>
                    <a:pt x="1772083" y="0"/>
                    <a:pt x="1827963" y="55880"/>
                    <a:pt x="1827963" y="124460"/>
                  </a:cubicBezTo>
                  <a:lnTo>
                    <a:pt x="1827963" y="1998953"/>
                  </a:lnTo>
                  <a:cubicBezTo>
                    <a:pt x="1827963" y="2067533"/>
                    <a:pt x="1772083" y="2123413"/>
                    <a:pt x="1703503" y="2123413"/>
                  </a:cubicBezTo>
                  <a:close/>
                </a:path>
              </a:pathLst>
            </a:custGeom>
            <a:solidFill>
              <a:srgbClr val="E8B594">
                <a:alpha val="49804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789906" y="14804283"/>
            <a:ext cx="4835195" cy="6554798"/>
            <a:chOff x="0" y="0"/>
            <a:chExt cx="1818866" cy="24657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818866" cy="2465733"/>
            </a:xfrm>
            <a:custGeom>
              <a:avLst/>
              <a:gdLst/>
              <a:ahLst/>
              <a:cxnLst/>
              <a:rect r="r" b="b" t="t" l="l"/>
              <a:pathLst>
                <a:path h="2465733" w="1818866">
                  <a:moveTo>
                    <a:pt x="1694406" y="2465733"/>
                  </a:moveTo>
                  <a:lnTo>
                    <a:pt x="124460" y="2465733"/>
                  </a:lnTo>
                  <a:cubicBezTo>
                    <a:pt x="55880" y="2465733"/>
                    <a:pt x="0" y="2409853"/>
                    <a:pt x="0" y="2341273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694406" y="0"/>
                  </a:lnTo>
                  <a:cubicBezTo>
                    <a:pt x="1762986" y="0"/>
                    <a:pt x="1818866" y="55880"/>
                    <a:pt x="1818866" y="124460"/>
                  </a:cubicBezTo>
                  <a:lnTo>
                    <a:pt x="1818866" y="2341273"/>
                  </a:lnTo>
                  <a:cubicBezTo>
                    <a:pt x="1818866" y="2409853"/>
                    <a:pt x="1762986" y="2465733"/>
                    <a:pt x="1694406" y="2465733"/>
                  </a:cubicBezTo>
                  <a:close/>
                </a:path>
              </a:pathLst>
            </a:custGeom>
            <a:solidFill>
              <a:srgbClr val="E8B594">
                <a:alpha val="49804"/>
              </a:srgbClr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823328" y="16151399"/>
            <a:ext cx="4859377" cy="2087744"/>
            <a:chOff x="0" y="0"/>
            <a:chExt cx="1827963" cy="78535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827963" cy="785351"/>
            </a:xfrm>
            <a:custGeom>
              <a:avLst/>
              <a:gdLst/>
              <a:ahLst/>
              <a:cxnLst/>
              <a:rect r="r" b="b" t="t" l="l"/>
              <a:pathLst>
                <a:path h="785351" w="1827963">
                  <a:moveTo>
                    <a:pt x="1703503" y="785351"/>
                  </a:moveTo>
                  <a:lnTo>
                    <a:pt x="124460" y="785351"/>
                  </a:lnTo>
                  <a:cubicBezTo>
                    <a:pt x="55880" y="785351"/>
                    <a:pt x="0" y="729471"/>
                    <a:pt x="0" y="660891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703503" y="0"/>
                  </a:lnTo>
                  <a:cubicBezTo>
                    <a:pt x="1772083" y="0"/>
                    <a:pt x="1827963" y="55880"/>
                    <a:pt x="1827963" y="124460"/>
                  </a:cubicBezTo>
                  <a:lnTo>
                    <a:pt x="1827963" y="660891"/>
                  </a:lnTo>
                  <a:cubicBezTo>
                    <a:pt x="1827963" y="729471"/>
                    <a:pt x="1772083" y="785351"/>
                    <a:pt x="1703503" y="785351"/>
                  </a:cubicBezTo>
                  <a:close/>
                </a:path>
              </a:pathLst>
            </a:custGeom>
            <a:solidFill>
              <a:srgbClr val="E8B594">
                <a:alpha val="49804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89906" y="5384344"/>
            <a:ext cx="4835195" cy="6492894"/>
            <a:chOff x="0" y="0"/>
            <a:chExt cx="1818866" cy="244244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818866" cy="2442447"/>
            </a:xfrm>
            <a:custGeom>
              <a:avLst/>
              <a:gdLst/>
              <a:ahLst/>
              <a:cxnLst/>
              <a:rect r="r" b="b" t="t" l="l"/>
              <a:pathLst>
                <a:path h="2442447" w="1818866">
                  <a:moveTo>
                    <a:pt x="1694406" y="2442447"/>
                  </a:moveTo>
                  <a:lnTo>
                    <a:pt x="124460" y="2442447"/>
                  </a:lnTo>
                  <a:cubicBezTo>
                    <a:pt x="55880" y="2442447"/>
                    <a:pt x="0" y="2386567"/>
                    <a:pt x="0" y="2317987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694406" y="0"/>
                  </a:lnTo>
                  <a:cubicBezTo>
                    <a:pt x="1762986" y="0"/>
                    <a:pt x="1818866" y="55880"/>
                    <a:pt x="1818866" y="124460"/>
                  </a:cubicBezTo>
                  <a:lnTo>
                    <a:pt x="1818866" y="2317987"/>
                  </a:lnTo>
                  <a:cubicBezTo>
                    <a:pt x="1818866" y="2386567"/>
                    <a:pt x="1762986" y="2442447"/>
                    <a:pt x="1694406" y="2442447"/>
                  </a:cubicBezTo>
                  <a:close/>
                </a:path>
              </a:pathLst>
            </a:custGeom>
            <a:solidFill>
              <a:srgbClr val="E8B594">
                <a:alpha val="49804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823328" y="13721558"/>
            <a:ext cx="4859377" cy="2239341"/>
            <a:chOff x="0" y="0"/>
            <a:chExt cx="1827963" cy="8423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827963" cy="842378"/>
            </a:xfrm>
            <a:custGeom>
              <a:avLst/>
              <a:gdLst/>
              <a:ahLst/>
              <a:cxnLst/>
              <a:rect r="r" b="b" t="t" l="l"/>
              <a:pathLst>
                <a:path h="842378" w="1827963">
                  <a:moveTo>
                    <a:pt x="1703503" y="842378"/>
                  </a:moveTo>
                  <a:lnTo>
                    <a:pt x="124460" y="842378"/>
                  </a:lnTo>
                  <a:cubicBezTo>
                    <a:pt x="55880" y="842378"/>
                    <a:pt x="0" y="786498"/>
                    <a:pt x="0" y="717918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703503" y="0"/>
                  </a:lnTo>
                  <a:cubicBezTo>
                    <a:pt x="1772083" y="0"/>
                    <a:pt x="1827963" y="55880"/>
                    <a:pt x="1827963" y="124460"/>
                  </a:cubicBezTo>
                  <a:lnTo>
                    <a:pt x="1827963" y="717918"/>
                  </a:lnTo>
                  <a:cubicBezTo>
                    <a:pt x="1827963" y="786498"/>
                    <a:pt x="1772083" y="842378"/>
                    <a:pt x="1703503" y="842378"/>
                  </a:cubicBezTo>
                  <a:close/>
                </a:path>
              </a:pathLst>
            </a:custGeom>
            <a:solidFill>
              <a:srgbClr val="E8B594">
                <a:alpha val="49804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5799912" y="14112959"/>
            <a:ext cx="4859377" cy="4126183"/>
            <a:chOff x="0" y="0"/>
            <a:chExt cx="1827963" cy="155215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827963" cy="1552156"/>
            </a:xfrm>
            <a:custGeom>
              <a:avLst/>
              <a:gdLst/>
              <a:ahLst/>
              <a:cxnLst/>
              <a:rect r="r" b="b" t="t" l="l"/>
              <a:pathLst>
                <a:path h="1552156" w="1827963">
                  <a:moveTo>
                    <a:pt x="1703503" y="1552156"/>
                  </a:moveTo>
                  <a:lnTo>
                    <a:pt x="124460" y="1552156"/>
                  </a:lnTo>
                  <a:cubicBezTo>
                    <a:pt x="55880" y="1552156"/>
                    <a:pt x="0" y="1496276"/>
                    <a:pt x="0" y="1427696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703503" y="0"/>
                  </a:lnTo>
                  <a:cubicBezTo>
                    <a:pt x="1772083" y="0"/>
                    <a:pt x="1827963" y="55880"/>
                    <a:pt x="1827963" y="124460"/>
                  </a:cubicBezTo>
                  <a:lnTo>
                    <a:pt x="1827963" y="1427696"/>
                  </a:lnTo>
                  <a:cubicBezTo>
                    <a:pt x="1827963" y="1496276"/>
                    <a:pt x="1772083" y="1552156"/>
                    <a:pt x="1703503" y="1552156"/>
                  </a:cubicBezTo>
                  <a:close/>
                </a:path>
              </a:pathLst>
            </a:custGeom>
            <a:solidFill>
              <a:srgbClr val="E8B594">
                <a:alpha val="49804"/>
              </a:srgbClr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789906" y="12100251"/>
            <a:ext cx="4835195" cy="2428448"/>
            <a:chOff x="0" y="0"/>
            <a:chExt cx="1818866" cy="91351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818866" cy="913515"/>
            </a:xfrm>
            <a:custGeom>
              <a:avLst/>
              <a:gdLst/>
              <a:ahLst/>
              <a:cxnLst/>
              <a:rect r="r" b="b" t="t" l="l"/>
              <a:pathLst>
                <a:path h="913515" w="1818866">
                  <a:moveTo>
                    <a:pt x="1694406" y="913515"/>
                  </a:moveTo>
                  <a:lnTo>
                    <a:pt x="124460" y="913515"/>
                  </a:lnTo>
                  <a:cubicBezTo>
                    <a:pt x="55880" y="913515"/>
                    <a:pt x="0" y="857635"/>
                    <a:pt x="0" y="789055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694406" y="0"/>
                  </a:lnTo>
                  <a:cubicBezTo>
                    <a:pt x="1762986" y="0"/>
                    <a:pt x="1818866" y="55880"/>
                    <a:pt x="1818866" y="124460"/>
                  </a:cubicBezTo>
                  <a:lnTo>
                    <a:pt x="1818866" y="789055"/>
                  </a:lnTo>
                  <a:cubicBezTo>
                    <a:pt x="1818866" y="857635"/>
                    <a:pt x="1762986" y="913515"/>
                    <a:pt x="1694406" y="913515"/>
                  </a:cubicBezTo>
                  <a:close/>
                </a:path>
              </a:pathLst>
            </a:custGeom>
            <a:solidFill>
              <a:srgbClr val="E8B594">
                <a:alpha val="49804"/>
              </a:srgbClr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5978389" y="18391542"/>
            <a:ext cx="9704316" cy="2967538"/>
            <a:chOff x="0" y="0"/>
            <a:chExt cx="3650495" cy="111630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650495" cy="1116306"/>
            </a:xfrm>
            <a:custGeom>
              <a:avLst/>
              <a:gdLst/>
              <a:ahLst/>
              <a:cxnLst/>
              <a:rect r="r" b="b" t="t" l="l"/>
              <a:pathLst>
                <a:path h="1116306" w="3650495">
                  <a:moveTo>
                    <a:pt x="3526034" y="1116306"/>
                  </a:moveTo>
                  <a:lnTo>
                    <a:pt x="124460" y="1116306"/>
                  </a:lnTo>
                  <a:cubicBezTo>
                    <a:pt x="55880" y="1116306"/>
                    <a:pt x="0" y="1060426"/>
                    <a:pt x="0" y="991846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526035" y="0"/>
                  </a:lnTo>
                  <a:cubicBezTo>
                    <a:pt x="3594615" y="0"/>
                    <a:pt x="3650495" y="55880"/>
                    <a:pt x="3650495" y="124460"/>
                  </a:cubicBezTo>
                  <a:lnTo>
                    <a:pt x="3650495" y="991846"/>
                  </a:lnTo>
                  <a:cubicBezTo>
                    <a:pt x="3650495" y="1060426"/>
                    <a:pt x="3594615" y="1116306"/>
                    <a:pt x="3526035" y="1116306"/>
                  </a:cubicBezTo>
                  <a:close/>
                </a:path>
              </a:pathLst>
            </a:custGeom>
            <a:solidFill>
              <a:srgbClr val="E8B594">
                <a:alpha val="49804"/>
              </a:srgbClr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5978389" y="5384344"/>
            <a:ext cx="4520834" cy="3079179"/>
            <a:chOff x="0" y="0"/>
            <a:chExt cx="1700612" cy="115830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700612" cy="1158302"/>
            </a:xfrm>
            <a:custGeom>
              <a:avLst/>
              <a:gdLst/>
              <a:ahLst/>
              <a:cxnLst/>
              <a:rect r="r" b="b" t="t" l="l"/>
              <a:pathLst>
                <a:path h="1158302" w="1700612">
                  <a:moveTo>
                    <a:pt x="1576152" y="1158302"/>
                  </a:moveTo>
                  <a:lnTo>
                    <a:pt x="124460" y="1158302"/>
                  </a:lnTo>
                  <a:cubicBezTo>
                    <a:pt x="55880" y="1158302"/>
                    <a:pt x="0" y="1102422"/>
                    <a:pt x="0" y="1033842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576152" y="0"/>
                  </a:lnTo>
                  <a:cubicBezTo>
                    <a:pt x="1644732" y="0"/>
                    <a:pt x="1700612" y="55880"/>
                    <a:pt x="1700612" y="124460"/>
                  </a:cubicBezTo>
                  <a:lnTo>
                    <a:pt x="1700612" y="1033842"/>
                  </a:lnTo>
                  <a:cubicBezTo>
                    <a:pt x="1700612" y="1102422"/>
                    <a:pt x="1644732" y="1158302"/>
                    <a:pt x="1576152" y="1158302"/>
                  </a:cubicBezTo>
                  <a:close/>
                </a:path>
              </a:pathLst>
            </a:custGeom>
            <a:solidFill>
              <a:srgbClr val="E8B594">
                <a:alpha val="49804"/>
              </a:srgbClr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0834099" y="11317485"/>
            <a:ext cx="4848606" cy="2144771"/>
            <a:chOff x="0" y="0"/>
            <a:chExt cx="1823911" cy="80680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823911" cy="806804"/>
            </a:xfrm>
            <a:custGeom>
              <a:avLst/>
              <a:gdLst/>
              <a:ahLst/>
              <a:cxnLst/>
              <a:rect r="r" b="b" t="t" l="l"/>
              <a:pathLst>
                <a:path h="806804" w="1823911">
                  <a:moveTo>
                    <a:pt x="1699451" y="806803"/>
                  </a:moveTo>
                  <a:lnTo>
                    <a:pt x="124460" y="806803"/>
                  </a:lnTo>
                  <a:cubicBezTo>
                    <a:pt x="55880" y="806803"/>
                    <a:pt x="0" y="750924"/>
                    <a:pt x="0" y="682343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1699451" y="0"/>
                  </a:lnTo>
                  <a:cubicBezTo>
                    <a:pt x="1768031" y="0"/>
                    <a:pt x="1823911" y="55880"/>
                    <a:pt x="1823911" y="124460"/>
                  </a:cubicBezTo>
                  <a:lnTo>
                    <a:pt x="1823911" y="682344"/>
                  </a:lnTo>
                  <a:cubicBezTo>
                    <a:pt x="1823911" y="750924"/>
                    <a:pt x="1768031" y="806804"/>
                    <a:pt x="1699451" y="806804"/>
                  </a:cubicBezTo>
                  <a:close/>
                </a:path>
              </a:pathLst>
            </a:custGeom>
            <a:solidFill>
              <a:srgbClr val="E8B594">
                <a:alpha val="49804"/>
              </a:srgbClr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104268" y="879512"/>
            <a:ext cx="14239894" cy="4174609"/>
            <a:chOff x="0" y="0"/>
            <a:chExt cx="3193381" cy="93618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193381" cy="936181"/>
            </a:xfrm>
            <a:custGeom>
              <a:avLst/>
              <a:gdLst/>
              <a:ahLst/>
              <a:cxnLst/>
              <a:rect r="r" b="b" t="t" l="l"/>
              <a:pathLst>
                <a:path h="936181" w="3193381">
                  <a:moveTo>
                    <a:pt x="3068921" y="936181"/>
                  </a:moveTo>
                  <a:lnTo>
                    <a:pt x="124460" y="936181"/>
                  </a:lnTo>
                  <a:cubicBezTo>
                    <a:pt x="55880" y="936181"/>
                    <a:pt x="0" y="880301"/>
                    <a:pt x="0" y="811721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068921" y="0"/>
                  </a:lnTo>
                  <a:cubicBezTo>
                    <a:pt x="3137501" y="0"/>
                    <a:pt x="3193381" y="55880"/>
                    <a:pt x="3193381" y="124460"/>
                  </a:cubicBezTo>
                  <a:lnTo>
                    <a:pt x="3193381" y="811721"/>
                  </a:lnTo>
                  <a:cubicBezTo>
                    <a:pt x="3193381" y="880301"/>
                    <a:pt x="3137501" y="936181"/>
                    <a:pt x="3068921" y="936181"/>
                  </a:cubicBezTo>
                  <a:close/>
                </a:path>
              </a:pathLst>
            </a:custGeom>
            <a:solidFill>
              <a:srgbClr val="E8B594"/>
            </a:solidFill>
          </p:spPr>
        </p:sp>
      </p:grpSp>
      <p:sp>
        <p:nvSpPr>
          <p:cNvPr name="Freeform 28" id="28"/>
          <p:cNvSpPr/>
          <p:nvPr/>
        </p:nvSpPr>
        <p:spPr>
          <a:xfrm flipH="false" flipV="false" rot="0">
            <a:off x="2307768" y="9822673"/>
            <a:ext cx="2093728" cy="1851612"/>
          </a:xfrm>
          <a:custGeom>
            <a:avLst/>
            <a:gdLst/>
            <a:ahLst/>
            <a:cxnLst/>
            <a:rect r="r" b="b" t="t" l="l"/>
            <a:pathLst>
              <a:path h="1851612" w="2093728">
                <a:moveTo>
                  <a:pt x="0" y="0"/>
                </a:moveTo>
                <a:lnTo>
                  <a:pt x="2093729" y="0"/>
                </a:lnTo>
                <a:lnTo>
                  <a:pt x="2093729" y="1851613"/>
                </a:lnTo>
                <a:lnTo>
                  <a:pt x="0" y="18516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29" id="2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610832" y="14352542"/>
            <a:ext cx="5420898" cy="4294535"/>
          </a:xfrm>
          <a:prstGeom prst="rect">
            <a:avLst/>
          </a:prstGeom>
        </p:spPr>
      </p:pic>
      <p:sp>
        <p:nvSpPr>
          <p:cNvPr name="Freeform 30" id="30"/>
          <p:cNvSpPr/>
          <p:nvPr/>
        </p:nvSpPr>
        <p:spPr>
          <a:xfrm flipH="false" flipV="false" rot="0">
            <a:off x="1771337" y="14957324"/>
            <a:ext cx="2630160" cy="2656727"/>
          </a:xfrm>
          <a:custGeom>
            <a:avLst/>
            <a:gdLst/>
            <a:ahLst/>
            <a:cxnLst/>
            <a:rect r="r" b="b" t="t" l="l"/>
            <a:pathLst>
              <a:path h="2656727" w="2630160">
                <a:moveTo>
                  <a:pt x="0" y="0"/>
                </a:moveTo>
                <a:lnTo>
                  <a:pt x="2630160" y="0"/>
                </a:lnTo>
                <a:lnTo>
                  <a:pt x="2630160" y="2656726"/>
                </a:lnTo>
                <a:lnTo>
                  <a:pt x="0" y="26567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31" id="31"/>
          <p:cNvGrpSpPr/>
          <p:nvPr/>
        </p:nvGrpSpPr>
        <p:grpSpPr>
          <a:xfrm rot="0">
            <a:off x="1149661" y="13009145"/>
            <a:ext cx="4115686" cy="1300491"/>
            <a:chOff x="0" y="0"/>
            <a:chExt cx="5487582" cy="173398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263644" cy="1733988"/>
            </a:xfrm>
            <a:custGeom>
              <a:avLst/>
              <a:gdLst/>
              <a:ahLst/>
              <a:cxnLst/>
              <a:rect r="r" b="b" t="t" l="l"/>
              <a:pathLst>
                <a:path h="1733988" w="1263644">
                  <a:moveTo>
                    <a:pt x="0" y="0"/>
                  </a:moveTo>
                  <a:lnTo>
                    <a:pt x="1263644" y="0"/>
                  </a:lnTo>
                  <a:lnTo>
                    <a:pt x="1263644" y="1733988"/>
                  </a:lnTo>
                  <a:lnTo>
                    <a:pt x="0" y="1733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1451126" y="196878"/>
              <a:ext cx="1713815" cy="1435320"/>
            </a:xfrm>
            <a:custGeom>
              <a:avLst/>
              <a:gdLst/>
              <a:ahLst/>
              <a:cxnLst/>
              <a:rect r="r" b="b" t="t" l="l"/>
              <a:pathLst>
                <a:path h="1435320" w="1713815">
                  <a:moveTo>
                    <a:pt x="0" y="0"/>
                  </a:moveTo>
                  <a:lnTo>
                    <a:pt x="1713815" y="0"/>
                  </a:lnTo>
                  <a:lnTo>
                    <a:pt x="1713815" y="1435320"/>
                  </a:lnTo>
                  <a:lnTo>
                    <a:pt x="0" y="1435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3355441" y="393510"/>
              <a:ext cx="2132140" cy="1120343"/>
            </a:xfrm>
            <a:custGeom>
              <a:avLst/>
              <a:gdLst/>
              <a:ahLst/>
              <a:cxnLst/>
              <a:rect r="r" b="b" t="t" l="l"/>
              <a:pathLst>
                <a:path h="1120343" w="2132140">
                  <a:moveTo>
                    <a:pt x="0" y="0"/>
                  </a:moveTo>
                  <a:lnTo>
                    <a:pt x="2132141" y="0"/>
                  </a:lnTo>
                  <a:lnTo>
                    <a:pt x="2132141" y="1120342"/>
                  </a:lnTo>
                  <a:lnTo>
                    <a:pt x="0" y="11203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</p:grpSp>
      <p:pic>
        <p:nvPicPr>
          <p:cNvPr name="Picture 35" id="35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5408837" y="17783743"/>
            <a:ext cx="10758256" cy="3978544"/>
          </a:xfrm>
          <a:prstGeom prst="rect">
            <a:avLst/>
          </a:prstGeom>
        </p:spPr>
      </p:pic>
      <p:sp>
        <p:nvSpPr>
          <p:cNvPr name="Freeform 36" id="36"/>
          <p:cNvSpPr/>
          <p:nvPr/>
        </p:nvSpPr>
        <p:spPr>
          <a:xfrm flipH="false" flipV="false" rot="0">
            <a:off x="10946897" y="6016230"/>
            <a:ext cx="4894741" cy="5012902"/>
          </a:xfrm>
          <a:custGeom>
            <a:avLst/>
            <a:gdLst/>
            <a:ahLst/>
            <a:cxnLst/>
            <a:rect r="r" b="b" t="t" l="l"/>
            <a:pathLst>
              <a:path h="5012902" w="4894741">
                <a:moveTo>
                  <a:pt x="0" y="0"/>
                </a:moveTo>
                <a:lnTo>
                  <a:pt x="4894741" y="0"/>
                </a:lnTo>
                <a:lnTo>
                  <a:pt x="4894741" y="5012902"/>
                </a:lnTo>
                <a:lnTo>
                  <a:pt x="0" y="501290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690" t="0" r="-69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6153987" y="9522504"/>
            <a:ext cx="4169637" cy="4380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2"/>
              </a:lnSpc>
            </a:pPr>
            <a:r>
              <a:rPr lang="en-US" sz="2273" spc="90">
                <a:solidFill>
                  <a:srgbClr val="544013"/>
                </a:solidFill>
                <a:latin typeface="Didact Gothic"/>
                <a:ea typeface="Didact Gothic"/>
                <a:cs typeface="Didact Gothic"/>
                <a:sym typeface="Didact Gothic"/>
              </a:rPr>
              <a:t>The databa</a:t>
            </a:r>
            <a:r>
              <a:rPr lang="en-US" sz="2273" spc="90">
                <a:solidFill>
                  <a:srgbClr val="544013"/>
                </a:solidFill>
                <a:latin typeface="Didact Gothic"/>
                <a:ea typeface="Didact Gothic"/>
                <a:cs typeface="Didact Gothic"/>
                <a:sym typeface="Didact Gothic"/>
              </a:rPr>
              <a:t>se built for Butter &amp; Salt provides the clarity needed to understand customer trends, top-selling items, and seasonal patterns. By turning raw orders into actionable insights, the system supports smarter planning and more efficient operations as the bakery grows.</a:t>
            </a:r>
          </a:p>
          <a:p>
            <a:pPr algn="ctr">
              <a:lnSpc>
                <a:spcPts val="3182"/>
              </a:lnSpc>
            </a:pPr>
          </a:p>
        </p:txBody>
      </p:sp>
      <p:sp>
        <p:nvSpPr>
          <p:cNvPr name="TextBox 38" id="38"/>
          <p:cNvSpPr txBox="true"/>
          <p:nvPr/>
        </p:nvSpPr>
        <p:spPr>
          <a:xfrm rot="0">
            <a:off x="5826201" y="8854048"/>
            <a:ext cx="4520834" cy="505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6"/>
              </a:lnSpc>
            </a:pPr>
            <a:r>
              <a:rPr lang="en-US" sz="2976" spc="119">
                <a:solidFill>
                  <a:srgbClr val="544013"/>
                </a:solidFill>
                <a:latin typeface="Didact Gothic"/>
                <a:ea typeface="Didact Gothic"/>
                <a:cs typeface="Didact Gothic"/>
                <a:sym typeface="Didact Gothic"/>
              </a:rPr>
              <a:t> Conclusions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118859" y="966742"/>
            <a:ext cx="14239894" cy="3222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930"/>
              </a:lnSpc>
            </a:pPr>
            <a:r>
              <a:rPr lang="en-US" sz="9236" spc="-230">
                <a:solidFill>
                  <a:srgbClr val="544013"/>
                </a:solidFill>
                <a:latin typeface="Cardo"/>
                <a:ea typeface="Cardo"/>
                <a:cs typeface="Cardo"/>
                <a:sym typeface="Cardo"/>
              </a:rPr>
              <a:t>From Dough to</a:t>
            </a:r>
            <a:r>
              <a:rPr lang="en-US" sz="9236" spc="-230">
                <a:solidFill>
                  <a:srgbClr val="544013"/>
                </a:solidFill>
                <a:latin typeface="Cardo"/>
                <a:ea typeface="Cardo"/>
                <a:cs typeface="Cardo"/>
                <a:sym typeface="Cardo"/>
              </a:rPr>
              <a:t> Data</a:t>
            </a:r>
          </a:p>
          <a:p>
            <a:pPr algn="ctr">
              <a:lnSpc>
                <a:spcPts val="12930"/>
              </a:lnSpc>
            </a:pPr>
          </a:p>
        </p:txBody>
      </p:sp>
      <p:sp>
        <p:nvSpPr>
          <p:cNvPr name="TextBox 40" id="40"/>
          <p:cNvSpPr txBox="true"/>
          <p:nvPr/>
        </p:nvSpPr>
        <p:spPr>
          <a:xfrm rot="0">
            <a:off x="1347130" y="5778585"/>
            <a:ext cx="4035108" cy="914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2"/>
              </a:lnSpc>
            </a:pPr>
            <a:r>
              <a:rPr lang="en-US" sz="2637" spc="105">
                <a:solidFill>
                  <a:srgbClr val="544013"/>
                </a:solidFill>
                <a:latin typeface="Didact Gothic"/>
                <a:ea typeface="Didact Gothic"/>
                <a:cs typeface="Didact Gothic"/>
                <a:sym typeface="Didact Gothic"/>
              </a:rPr>
              <a:t>Overview of the Project</a:t>
            </a:r>
          </a:p>
          <a:p>
            <a:pPr algn="ctr">
              <a:lnSpc>
                <a:spcPts val="3692"/>
              </a:lnSpc>
            </a:pPr>
          </a:p>
        </p:txBody>
      </p:sp>
      <p:sp>
        <p:nvSpPr>
          <p:cNvPr name="TextBox 41" id="41"/>
          <p:cNvSpPr txBox="true"/>
          <p:nvPr/>
        </p:nvSpPr>
        <p:spPr>
          <a:xfrm rot="0">
            <a:off x="1068518" y="6354876"/>
            <a:ext cx="4277971" cy="3665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32"/>
              </a:lnSpc>
            </a:pPr>
            <a:r>
              <a:rPr lang="en-US" sz="2309" spc="92">
                <a:solidFill>
                  <a:srgbClr val="544013"/>
                </a:solidFill>
                <a:latin typeface="Didact Gothic"/>
                <a:ea typeface="Didact Gothic"/>
                <a:cs typeface="Didact Gothic"/>
                <a:sym typeface="Didact Gothic"/>
              </a:rPr>
              <a:t>This project designed a MySQL relational database for Butter &amp; Salt, a small-batch cookie business. The goal was to streamline customer orders, track ingredients, manage recipes, and generate business insights efficiently.</a:t>
            </a:r>
          </a:p>
          <a:p>
            <a:pPr algn="ctr">
              <a:lnSpc>
                <a:spcPts val="3232"/>
              </a:lnSpc>
            </a:pPr>
          </a:p>
        </p:txBody>
      </p:sp>
      <p:sp>
        <p:nvSpPr>
          <p:cNvPr name="TextBox 42" id="42"/>
          <p:cNvSpPr txBox="true"/>
          <p:nvPr/>
        </p:nvSpPr>
        <p:spPr>
          <a:xfrm rot="0">
            <a:off x="1356336" y="2442245"/>
            <a:ext cx="13764939" cy="3459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68"/>
              </a:lnSpc>
            </a:pPr>
            <a:r>
              <a:rPr lang="en-US" sz="4191" spc="335">
                <a:solidFill>
                  <a:srgbClr val="544013"/>
                </a:solidFill>
                <a:latin typeface="Didact Gothic"/>
                <a:ea typeface="Didact Gothic"/>
                <a:cs typeface="Didact Gothic"/>
                <a:sym typeface="Didact Gothic"/>
              </a:rPr>
              <a:t>Building the Butter &amp; Salt Cookie Database</a:t>
            </a:r>
          </a:p>
          <a:p>
            <a:pPr algn="ctr">
              <a:lnSpc>
                <a:spcPts val="5448"/>
              </a:lnSpc>
            </a:pPr>
            <a:r>
              <a:rPr lang="en-US" sz="3891" spc="311">
                <a:solidFill>
                  <a:srgbClr val="544013"/>
                </a:solidFill>
                <a:latin typeface="Didact Gothic"/>
                <a:ea typeface="Didact Gothic"/>
                <a:cs typeface="Didact Gothic"/>
                <a:sym typeface="Didact Gothic"/>
              </a:rPr>
              <a:t>Breanna Jordan- Spring 2025</a:t>
            </a:r>
          </a:p>
          <a:p>
            <a:pPr algn="ctr">
              <a:lnSpc>
                <a:spcPts val="5448"/>
              </a:lnSpc>
            </a:pPr>
            <a:r>
              <a:rPr lang="en-US" sz="3891" spc="311">
                <a:solidFill>
                  <a:srgbClr val="544013"/>
                </a:solidFill>
                <a:latin typeface="Didact Gothic"/>
                <a:ea typeface="Didact Gothic"/>
                <a:cs typeface="Didact Gothic"/>
                <a:sym typeface="Didact Gothic"/>
              </a:rPr>
              <a:t>APCV 498 Senior Capstone </a:t>
            </a:r>
          </a:p>
          <a:p>
            <a:pPr algn="ctr">
              <a:lnSpc>
                <a:spcPts val="5448"/>
              </a:lnSpc>
            </a:pPr>
            <a:r>
              <a:rPr lang="en-US" sz="3891" spc="311">
                <a:solidFill>
                  <a:srgbClr val="544013"/>
                </a:solidFill>
                <a:latin typeface="Didact Gothic"/>
                <a:ea typeface="Didact Gothic"/>
                <a:cs typeface="Didact Gothic"/>
                <a:sym typeface="Didact Gothic"/>
              </a:rPr>
              <a:t> </a:t>
            </a:r>
          </a:p>
          <a:p>
            <a:pPr algn="ctr">
              <a:lnSpc>
                <a:spcPts val="5448"/>
              </a:lnSpc>
            </a:pPr>
            <a:r>
              <a:rPr lang="en-US" sz="3891" spc="311">
                <a:solidFill>
                  <a:srgbClr val="544013"/>
                </a:solidFill>
                <a:latin typeface="Didact Gothic"/>
                <a:ea typeface="Didact Gothic"/>
                <a:cs typeface="Didact Gothic"/>
                <a:sym typeface="Didact Gothic"/>
              </a:rPr>
              <a:t> 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1099297" y="11260335"/>
            <a:ext cx="4035108" cy="505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6"/>
              </a:lnSpc>
            </a:pPr>
            <a:r>
              <a:rPr lang="en-US" sz="2976" spc="119">
                <a:solidFill>
                  <a:srgbClr val="544013"/>
                </a:solidFill>
                <a:latin typeface="Didact Gothic"/>
                <a:ea typeface="Didact Gothic"/>
                <a:cs typeface="Didact Gothic"/>
                <a:sym typeface="Didact Gothic"/>
              </a:rPr>
              <a:t>Data Snapshot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1115393" y="11829613"/>
            <a:ext cx="4286018" cy="1516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31"/>
              </a:lnSpc>
            </a:pPr>
            <a:r>
              <a:rPr lang="en-US" sz="2165" spc="86">
                <a:solidFill>
                  <a:srgbClr val="544013"/>
                </a:solidFill>
                <a:latin typeface="Didact Gothic"/>
                <a:ea typeface="Didact Gothic"/>
                <a:cs typeface="Didact Gothic"/>
                <a:sym typeface="Didact Gothic"/>
              </a:rPr>
              <a:t>Validated with 400+ orders, 200 customers, and 20 ingredients, the database simulates real small bakery data.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8923182" y="18467742"/>
            <a:ext cx="4035108" cy="472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80"/>
              </a:lnSpc>
            </a:pPr>
            <a:r>
              <a:rPr lang="en-US" sz="2771" spc="110">
                <a:solidFill>
                  <a:srgbClr val="544013"/>
                </a:solidFill>
                <a:latin typeface="Didact Gothic"/>
                <a:ea typeface="Didact Gothic"/>
                <a:cs typeface="Didact Gothic"/>
                <a:sym typeface="Didact Gothic"/>
              </a:rPr>
              <a:t>Revenue 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6197361" y="14247408"/>
            <a:ext cx="4035108" cy="505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6"/>
              </a:lnSpc>
            </a:pPr>
            <a:r>
              <a:rPr lang="en-US" sz="2976" spc="119">
                <a:solidFill>
                  <a:srgbClr val="544013"/>
                </a:solidFill>
                <a:latin typeface="Didact Gothic"/>
                <a:ea typeface="Didact Gothic"/>
                <a:cs typeface="Didact Gothic"/>
                <a:sym typeface="Didact Gothic"/>
              </a:rPr>
              <a:t>Top 5 Cookies  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0062567" y="16827674"/>
            <a:ext cx="4035108" cy="505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6"/>
              </a:lnSpc>
            </a:pPr>
            <a:r>
              <a:rPr lang="en-US" sz="2976" spc="119" u="sng">
                <a:solidFill>
                  <a:srgbClr val="544013"/>
                </a:solidFill>
                <a:latin typeface="Didact Gothic"/>
                <a:ea typeface="Didact Gothic"/>
                <a:cs typeface="Didact Gothic"/>
                <a:sym typeface="Didact Gothic"/>
                <a:hlinkClick r:id="rId14" tooltip="https://docs.google.com/document/d/1Q8aJz6r1ocISWU7CCV9np6jiHMFY6H9aXijgA7FPZ9w/edit?usp=sharing"/>
              </a:rPr>
              <a:t>R</a:t>
            </a:r>
            <a:r>
              <a:rPr lang="en-US" sz="2976" spc="119" u="sng">
                <a:solidFill>
                  <a:srgbClr val="544013"/>
                </a:solidFill>
                <a:latin typeface="Didact Gothic"/>
                <a:ea typeface="Didact Gothic"/>
                <a:cs typeface="Didact Gothic"/>
                <a:sym typeface="Didact Gothic"/>
                <a:hlinkClick r:id="rId15" tooltip="https://docs.google.com/document/d/1Q8aJz6r1ocISWU7CCV9np6jiHMFY6H9aXijgA7FPZ9w/edit?usp=sharing"/>
              </a:rPr>
              <a:t>eferences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1017461" y="14337724"/>
            <a:ext cx="4665243" cy="1516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4924" indent="-232462" lvl="1">
              <a:lnSpc>
                <a:spcPts val="3014"/>
              </a:lnSpc>
              <a:buFont typeface="Arial"/>
              <a:buChar char="•"/>
            </a:pPr>
            <a:r>
              <a:rPr lang="en-US" sz="2153" spc="86">
                <a:solidFill>
                  <a:srgbClr val="544013"/>
                </a:solidFill>
                <a:latin typeface="Didact Gothic"/>
                <a:ea typeface="Didact Gothic"/>
                <a:cs typeface="Didact Gothic"/>
                <a:sym typeface="Didact Gothic"/>
              </a:rPr>
              <a:t>Add a web-based order form </a:t>
            </a:r>
          </a:p>
          <a:p>
            <a:pPr algn="l" marL="464924" indent="-232462" lvl="1">
              <a:lnSpc>
                <a:spcPts val="3014"/>
              </a:lnSpc>
              <a:buFont typeface="Arial"/>
              <a:buChar char="•"/>
            </a:pPr>
            <a:r>
              <a:rPr lang="en-US" sz="2153" spc="86">
                <a:solidFill>
                  <a:srgbClr val="544013"/>
                </a:solidFill>
                <a:latin typeface="Didact Gothic"/>
                <a:ea typeface="Didact Gothic"/>
                <a:cs typeface="Didact Gothic"/>
                <a:sym typeface="Didact Gothic"/>
              </a:rPr>
              <a:t>Create a dashboard for analytics  </a:t>
            </a:r>
          </a:p>
          <a:p>
            <a:pPr algn="l" marL="464924" indent="-232462" lvl="1">
              <a:lnSpc>
                <a:spcPts val="3014"/>
              </a:lnSpc>
              <a:buFont typeface="Arial"/>
              <a:buChar char="•"/>
            </a:pPr>
            <a:r>
              <a:rPr lang="en-US" sz="2153" spc="86">
                <a:solidFill>
                  <a:srgbClr val="544013"/>
                </a:solidFill>
                <a:latin typeface="Didact Gothic"/>
                <a:ea typeface="Didact Gothic"/>
                <a:cs typeface="Didact Gothic"/>
                <a:sym typeface="Didact Gothic"/>
              </a:rPr>
              <a:t>Integrate real-time sales data  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1066191" y="13804206"/>
            <a:ext cx="4035108" cy="505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6"/>
              </a:lnSpc>
            </a:pPr>
            <a:r>
              <a:rPr lang="en-US" sz="2976" spc="119">
                <a:solidFill>
                  <a:srgbClr val="544013"/>
                </a:solidFill>
                <a:latin typeface="Didact Gothic"/>
                <a:ea typeface="Didact Gothic"/>
                <a:cs typeface="Didact Gothic"/>
                <a:sym typeface="Didact Gothic"/>
              </a:rPr>
              <a:t> Future Work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468562" y="12184475"/>
            <a:ext cx="4035108" cy="505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6"/>
              </a:lnSpc>
            </a:pPr>
            <a:r>
              <a:rPr lang="en-US" sz="2976" spc="119">
                <a:solidFill>
                  <a:srgbClr val="544013"/>
                </a:solidFill>
                <a:latin typeface="Didact Gothic"/>
                <a:ea typeface="Didact Gothic"/>
                <a:cs typeface="Didact Gothic"/>
                <a:sym typeface="Didact Gothic"/>
              </a:rPr>
              <a:t>Technologies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6197361" y="5320780"/>
            <a:ext cx="4035108" cy="505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6"/>
              </a:lnSpc>
            </a:pPr>
            <a:r>
              <a:rPr lang="en-US" sz="2976" spc="119">
                <a:solidFill>
                  <a:srgbClr val="544013"/>
                </a:solidFill>
                <a:latin typeface="Didact Gothic"/>
                <a:ea typeface="Didact Gothic"/>
                <a:cs typeface="Didact Gothic"/>
                <a:sym typeface="Didact Gothic"/>
              </a:rPr>
              <a:t>Bus</a:t>
            </a:r>
            <a:r>
              <a:rPr lang="en-US" sz="2976" spc="119">
                <a:solidFill>
                  <a:srgbClr val="544013"/>
                </a:solidFill>
                <a:latin typeface="Didact Gothic"/>
                <a:ea typeface="Didact Gothic"/>
                <a:cs typeface="Didact Gothic"/>
                <a:sym typeface="Didact Gothic"/>
              </a:rPr>
              <a:t>iness Insight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6062574" y="5852095"/>
            <a:ext cx="4483888" cy="281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800"/>
              </a:lnSpc>
              <a:buAutoNum type="arabicPeriod" startAt="1"/>
            </a:pPr>
            <a:r>
              <a:rPr lang="en-US" sz="2000" spc="80">
                <a:solidFill>
                  <a:srgbClr val="544013"/>
                </a:solidFill>
                <a:latin typeface="Didact Gothic"/>
                <a:ea typeface="Didact Gothic"/>
                <a:cs typeface="Didact Gothic"/>
                <a:sym typeface="Didact Gothic"/>
              </a:rPr>
              <a:t>Wh</a:t>
            </a:r>
            <a:r>
              <a:rPr lang="en-US" sz="2000" spc="80">
                <a:solidFill>
                  <a:srgbClr val="544013"/>
                </a:solidFill>
                <a:latin typeface="Didact Gothic"/>
                <a:ea typeface="Didact Gothic"/>
                <a:cs typeface="Didact Gothic"/>
                <a:sym typeface="Didact Gothic"/>
              </a:rPr>
              <a:t>ich cookies consistently lead in sales, according to the database?</a:t>
            </a:r>
          </a:p>
          <a:p>
            <a:pPr algn="l" marL="431801" indent="-215900" lvl="1">
              <a:lnSpc>
                <a:spcPts val="2800"/>
              </a:lnSpc>
              <a:buAutoNum type="arabicPeriod" startAt="1"/>
            </a:pPr>
            <a:r>
              <a:rPr lang="en-US" sz="2000" spc="80">
                <a:solidFill>
                  <a:srgbClr val="544013"/>
                </a:solidFill>
                <a:latin typeface="Didact Gothic"/>
                <a:ea typeface="Didact Gothic"/>
                <a:cs typeface="Didact Gothic"/>
                <a:sym typeface="Didact Gothic"/>
              </a:rPr>
              <a:t>How can we boost revenue during our slow months?</a:t>
            </a:r>
          </a:p>
          <a:p>
            <a:pPr algn="l" marL="431801" indent="-215900" lvl="1">
              <a:lnSpc>
                <a:spcPts val="2800"/>
              </a:lnSpc>
              <a:buAutoNum type="arabicPeriod" startAt="1"/>
            </a:pPr>
            <a:r>
              <a:rPr lang="en-US" sz="2000" spc="80">
                <a:solidFill>
                  <a:srgbClr val="544013"/>
                </a:solidFill>
                <a:latin typeface="Didact Gothic"/>
                <a:ea typeface="Didact Gothic"/>
                <a:cs typeface="Didact Gothic"/>
                <a:sym typeface="Didact Gothic"/>
              </a:rPr>
              <a:t>What business insights become possible because of the way this schema is designed?”</a:t>
            </a:r>
          </a:p>
          <a:p>
            <a:pPr algn="l">
              <a:lnSpc>
                <a:spcPts val="2800"/>
              </a:lnSpc>
            </a:pPr>
          </a:p>
        </p:txBody>
      </p:sp>
      <p:sp>
        <p:nvSpPr>
          <p:cNvPr name="TextBox 53" id="53"/>
          <p:cNvSpPr txBox="true"/>
          <p:nvPr/>
        </p:nvSpPr>
        <p:spPr>
          <a:xfrm rot="0">
            <a:off x="1068863" y="17576251"/>
            <a:ext cx="4035108" cy="505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6"/>
              </a:lnSpc>
            </a:pPr>
            <a:r>
              <a:rPr lang="en-US" sz="2976" spc="119">
                <a:solidFill>
                  <a:srgbClr val="544013"/>
                </a:solidFill>
                <a:latin typeface="Didact Gothic"/>
                <a:ea typeface="Didact Gothic"/>
                <a:cs typeface="Didact Gothic"/>
                <a:sym typeface="Didact Gothic"/>
              </a:rPr>
              <a:t>Objectives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048414" y="18220092"/>
            <a:ext cx="4298075" cy="2722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9305" indent="-259652" lvl="1">
              <a:lnSpc>
                <a:spcPts val="3126"/>
              </a:lnSpc>
              <a:buFont typeface="Arial"/>
              <a:buChar char="•"/>
            </a:pPr>
            <a:r>
              <a:rPr lang="en-US" sz="2405" spc="96">
                <a:solidFill>
                  <a:srgbClr val="544013"/>
                </a:solidFill>
                <a:latin typeface="Didact Gothic"/>
                <a:ea typeface="Didact Gothic"/>
                <a:cs typeface="Didact Gothic"/>
                <a:sym typeface="Didact Gothic"/>
              </a:rPr>
              <a:t>Normalize data to 3NF  </a:t>
            </a:r>
          </a:p>
          <a:p>
            <a:pPr algn="l" marL="519305" indent="-259652" lvl="1">
              <a:lnSpc>
                <a:spcPts val="3126"/>
              </a:lnSpc>
              <a:buFont typeface="Arial"/>
              <a:buChar char="•"/>
            </a:pPr>
            <a:r>
              <a:rPr lang="en-US" sz="2405" spc="96">
                <a:solidFill>
                  <a:srgbClr val="544013"/>
                </a:solidFill>
                <a:latin typeface="Didact Gothic"/>
                <a:ea typeface="Didact Gothic"/>
                <a:cs typeface="Didact Gothic"/>
                <a:sym typeface="Didact Gothic"/>
              </a:rPr>
              <a:t>Improve order and inventory tracking  </a:t>
            </a:r>
          </a:p>
          <a:p>
            <a:pPr algn="l" marL="519305" indent="-259652" lvl="1">
              <a:lnSpc>
                <a:spcPts val="3126"/>
              </a:lnSpc>
              <a:buFont typeface="Arial"/>
              <a:buChar char="•"/>
            </a:pPr>
            <a:r>
              <a:rPr lang="en-US" sz="2405" spc="96">
                <a:solidFill>
                  <a:srgbClr val="544013"/>
                </a:solidFill>
                <a:latin typeface="Didact Gothic"/>
                <a:ea typeface="Didact Gothic"/>
                <a:cs typeface="Didact Gothic"/>
                <a:sym typeface="Didact Gothic"/>
              </a:rPr>
              <a:t>Generate business insights  </a:t>
            </a:r>
          </a:p>
          <a:p>
            <a:pPr algn="l" marL="519305" indent="-259652" lvl="1">
              <a:lnSpc>
                <a:spcPts val="3126"/>
              </a:lnSpc>
              <a:buFont typeface="Arial"/>
              <a:buChar char="•"/>
            </a:pPr>
            <a:r>
              <a:rPr lang="en-US" sz="2405" spc="96">
                <a:solidFill>
                  <a:srgbClr val="544013"/>
                </a:solidFill>
                <a:latin typeface="Didact Gothic"/>
                <a:ea typeface="Didact Gothic"/>
                <a:cs typeface="Didact Gothic"/>
                <a:sym typeface="Didact Gothic"/>
              </a:rPr>
              <a:t>Ensure calability for future growth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1089666" y="5320780"/>
            <a:ext cx="4520834" cy="505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6"/>
              </a:lnSpc>
            </a:pPr>
            <a:r>
              <a:rPr lang="en-US" sz="2976" spc="119">
                <a:solidFill>
                  <a:srgbClr val="544013"/>
                </a:solidFill>
                <a:latin typeface="Didact Gothic"/>
                <a:ea typeface="Didact Gothic"/>
                <a:cs typeface="Didact Gothic"/>
                <a:sym typeface="Didact Gothic"/>
              </a:rPr>
              <a:t>Database Schema</a:t>
            </a:r>
          </a:p>
        </p:txBody>
      </p:sp>
      <p:pic>
        <p:nvPicPr>
          <p:cNvPr name="Picture 56" id="5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3320015" y="16108934"/>
            <a:ext cx="2224076" cy="222407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DAG4r9V4kUQ</dc:identifier>
  <dcterms:modified xsi:type="dcterms:W3CDTF">2011-08-01T06:04:30Z</dcterms:modified>
  <cp:revision>1</cp:revision>
  <dc:title>Unhelpful Thinking Styles Poster</dc:title>
</cp:coreProperties>
</file>